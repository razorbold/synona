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498079" y="-146304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778240" y="219456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058400" y="4206240"/>
            <a:ext cx="2926080" cy="2926080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9601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042415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1E2235"/>
                </a:solidFill>
                <a:latin typeface="Segoe UI"/>
              </a:rPr>
              <a:t>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033271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Synona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Panduan Pengguna</a:t>
            </a:r>
          </a:p>
          <a:p>
            <a:pPr algn="l">
              <a:lnSpc>
                <a:spcPct val="106000"/>
              </a:lnSpc>
              <a:spcBef>
                <a:spcPts val="600"/>
              </a:spcBef>
            </a:pPr>
            <a:r>
              <a:rPr sz="4600" b="1">
                <a:solidFill>
                  <a:srgbClr val="FFFFFF"/>
                </a:solidFill>
                <a:latin typeface="Segoe UI"/>
              </a:rPr>
              <a:t>Dagang · Jasa · Campuran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6E2FF"/>
                </a:solidFill>
                <a:latin typeface="Segoe UI"/>
              </a:rPr>
              <a:t>Satu aplikasi untuk mencatat jualan, stok, pekerjaan, kas, dan utang — lalu menerjemahkannya jadi jawaban: usaha saya sehat atau tidak?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Untuk pemilik &amp; kasir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5212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Termasuk data contoh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0A6"/>
                </a:solidFill>
                <a:latin typeface="Segoe UI"/>
              </a:rPr>
              <a:t>Versi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Isi panduan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Tiga bagian sesuai jenis usaha, lalu menu yang dipakai semuanya.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292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4864" cy="106070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482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Mulai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14016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Apa itu Synona · memilih jenis usaha · peta menu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0292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4864" cy="106070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482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Usaha Dagang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14016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POS · Produk &amp; Stok · Persediaan · Pembelian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27248"/>
            <a:ext cx="50292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127248"/>
            <a:ext cx="54864" cy="106070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334670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46704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Usaha Jasa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12464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Layanan · Terima pesanan · Papan antrean · Petugas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27248"/>
            <a:ext cx="50292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172200" y="3127248"/>
            <a:ext cx="54864" cy="10607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46520" y="334670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46704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Usaha Campuran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12464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Kapan pakai POS, kapan pakai Pesanan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425696"/>
            <a:ext cx="50292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77240" y="4425696"/>
            <a:ext cx="54864" cy="1060704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51560" y="464515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645152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Dipakai semua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010912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Kas &amp; Bank · Kasbon · Beban · Laporan · Rekonsiliasi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425696"/>
            <a:ext cx="50292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172200" y="4425696"/>
            <a:ext cx="54864" cy="1060704"/>
          </a:xfrm>
          <a:prstGeom prst="roundRect">
            <a:avLst>
              <a:gd name="adj" fmla="val 50000"/>
            </a:avLst>
          </a:prstGeom>
          <a:solidFill>
            <a:srgbClr val="8A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46520" y="464515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645152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Data contoh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10912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Toko Aksesoris Kita untuk latihan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Apa yang Synona kerjakan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Bukan sekadar mencatat — mengubah catatan jadi keputusan.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4864" cy="228600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93975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93975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Mencatat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59735"/>
            <a:ext cx="27889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Penjualan, pekerjaan, belanja, beban, dan utang. Sekali catat, tidak perlu diulang di buku 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54864" cy="2286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3440" y="2093975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93975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Menghitung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59735"/>
            <a:ext cx="27889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Modal, laba, stok, dan kas dihitung sendiri dari catatan tadi. Tidak ada rumus manual yang bisa salah ketik.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01000" y="1874519"/>
            <a:ext cx="54864" cy="2286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2093975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93975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Memberi tahu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59735"/>
            <a:ext cx="27889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Radar 6 Pertanyaan dan status Sehat/Waspada/Bahaya menunjukkan apa yang perlu dikerjakan hari ini.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2628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F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77240" y="452628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Prinsip yang dipegang di seluruh aplikasi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94690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Satu kejadian dicatat di satu tempat saja. Karena itu laporan tidak pernah berselisih dengan penjualan — semuanya dirakit dari catatan yang sama, bukan dari pembukuan kedua yang harus dicocokkan.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Langkah pertama: pilih jenis usaha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Muncul di halaman masuk saat aplikasi baru dipasang. Menentukan menu yang Anda lihat.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4864" cy="21488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4825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Dagang / Ritel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14016"/>
            <a:ext cx="27889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Saya jual barang yang stoknya dihitung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Warung sembako, toko kue, minimarket, toko aksesoris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54864" cy="21488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3440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4825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Jasa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14016"/>
            <a:ext cx="27889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Saya jual pekerjaan, bukan barang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Laundry, bengkel, salon, servis HP, penjahit, cuci mobil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54864" cy="21488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4825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Campuran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14016"/>
            <a:ext cx="27889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Saya jual barang sekaligus melayani jasa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Bengkel yang jual sparepart, salon yang jual shampo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4340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69848" y="448970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Salah pilih? Tidak apa-apa.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76402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Ganti kapan saja lewat Pengaturan → Outlet &amp; Staf → Jenis Usaha. Mengubahnya tidak menghapus data apa pun — menu yang disembunyikan hanya disembunyikan, dan isinya utuh saat dimunculkan lagi.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Menu apa yang muncul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Tanda ✓ berarti menunya tampil untuk jenis usaha itu.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solidFill>
            <a:srgbClr val="F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5256" y="18836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BE0"/>
                </a:solidFill>
                <a:latin typeface="Segoe U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5656" y="1883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BE0"/>
                </a:solidFill>
                <a:latin typeface="Segoe UI"/>
              </a:rPr>
              <a:t>Dagang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6" y="1883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BE0"/>
                </a:solidFill>
                <a:latin typeface="Segoe UI"/>
              </a:rPr>
              <a:t>Jasa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1883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BE0"/>
                </a:solidFill>
                <a:latin typeface="Segoe UI"/>
              </a:rPr>
              <a:t>Campuran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2056" y="18836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BE0"/>
                </a:solidFill>
                <a:latin typeface="Segoe UI"/>
              </a:rPr>
              <a:t>Untuk apa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8541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6" y="22768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Penjualan (POS)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2768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22768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22768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2056" y="22768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Jual barang di tempat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551176"/>
            <a:ext cx="10607040" cy="36576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77240" y="255117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26426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Pesanan Jasa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6" y="2642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456" y="2642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642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056" y="26426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Papan antrean pekerjaan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1693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30083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Layanan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6" y="30083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4456" y="30083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0083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3008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Katalog jasa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282696"/>
            <a:ext cx="10607040" cy="36576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77240" y="328269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33741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Produk &amp; Stok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5656" y="33741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4456" y="33741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33741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33741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Katalog barang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64845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5256" y="3739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Persediaan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5656" y="37398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4456" y="37398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63256" y="37398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373989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Bahan &amp; barang jadi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4014216"/>
            <a:ext cx="10607040" cy="36576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77240" y="401421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41056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Pembelian Stok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5656" y="4105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6" y="4105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63256" y="4105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41056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Belanja ke supplier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437997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05256" y="44714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Produksi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5656" y="44714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34456" y="44714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63256" y="44714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2056" y="44714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Olah bahan jadi produk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745736"/>
            <a:ext cx="10607040" cy="36576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777240" y="474573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05256" y="4837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Kas &amp; Bank, Kasbon, Beban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5656" y="48371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34456" y="48371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63256" y="48371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92056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Dipakai semua jenis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5111496"/>
            <a:ext cx="10607040" cy="9525"/>
          </a:xfrm>
          <a:prstGeom prst="rect">
            <a:avLst/>
          </a:prstGeom>
          <a:solidFill>
            <a:srgbClr val="ED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05256" y="52029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235"/>
                </a:solidFill>
                <a:latin typeface="Segoe UI"/>
              </a:rPr>
              <a:t>Laporan, Rekonsiliasi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5656" y="5202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34456" y="5202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63256" y="5202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92056" y="52029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Dipakai semua jenis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595360" y="-109728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66960" y="32918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3A7FB"/>
                </a:solidFill>
                <a:latin typeface="Segoe UI"/>
              </a:rPr>
              <a:t>BAGIAN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7680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🏪 Usaha Dagang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6E2FF"/>
                </a:solidFill>
                <a:latin typeface="Segoe UI"/>
              </a:rPr>
              <a:t>Jual barang yang stoknya dihitung. Setiap penjualan mengurangi stok dan mencatat modalnya sekaligus.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Alur harian usaha dagang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Empat langkah, berulang tiap hari.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093975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Buka 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450591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Ketuk produk, tekan Bayar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5828" y="2276855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B3A7FB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6724" y="1874519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506724" y="1874519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3028" y="2093975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Stok turun sendiri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3028" y="2450591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Tanpa dicatat ulang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76855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B3A7FB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874519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36208" y="1874519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2512" y="2093975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Catat beban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50591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Listrik, gaji, sewa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4796" y="2276855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B3A7FB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5692" y="1874519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965692" y="1874519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11996" y="2093975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Tutup buku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1996" y="2450591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Rekonsiliasi + Laporan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8444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538728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Isi katalog dulu.</a:t>
            </a:r>
            <a:r>
              <a:rPr sz="1200" b="0">
                <a:solidFill>
                  <a:srgbClr val="8A90A6"/>
                </a:solidFill>
                <a:latin typeface="Segoe UI"/>
              </a:rPr>
              <a:t>  Produk &amp; Stok → Tambah Produk. Harga jual dan modal wajib diisi — tanpa modal, laba tidak bisa dihitung.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0050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959352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Jual lewat POS.</a:t>
            </a:r>
            <a:r>
              <a:rPr sz="1200" b="0">
                <a:solidFill>
                  <a:srgbClr val="8A90A6"/>
                </a:solidFill>
                <a:latin typeface="Segoe UI"/>
              </a:rPr>
              <a:t>  Pilih cara bayar; uangnya otomatis masuk ke akun kas yang sesuai (laci, bank, atau QRIS).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4256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379976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Belanja lewat Pembelian Stok.</a:t>
            </a:r>
            <a:r>
              <a:rPr sz="1200" b="0">
                <a:solidFill>
                  <a:srgbClr val="8A90A6"/>
                </a:solidFill>
                <a:latin typeface="Segoe UI"/>
              </a:rPr>
              <a:t>  Bukan lewat Beban. Stok bertambah dan modal rata-rata ikut diperbarui.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84632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4800600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Tutup hari di Rekonsiliasi.</a:t>
            </a:r>
            <a:r>
              <a:rPr sz="1200" b="0">
                <a:solidFill>
                  <a:srgbClr val="8A90A6"/>
                </a:solidFill>
                <a:latin typeface="Segoe UI"/>
              </a:rPr>
              <a:t>  Cocokkan uang laci dengan catatan sistem, selagi ingatannya masih segar.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Produk &amp; Stok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Katalog barang yang Anda jual.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29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19659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Yang wajib diisi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4526280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Nama, harga jual, dan modal (HPP). Modal inilah yang membuat kata "untung" jujur — kalau dikosongkan, seluruh penjualan terlihat untung penuh.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Batas stok menipis menentukan kapan produk muncul di kartu peringatan.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864" cy="19659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0253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Produk tanpa lacak stok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68296"/>
            <a:ext cx="4709160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Untuk masakan yang dibuat saat dipesan — nasi goreng, kopi susu — matikan "lacak stok".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Tanpa itu Anda harus mengisi stok palsu yang besar, atau POS menolak penjualan dengan "stok tinggal 0" di tengah jam ramai.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5069"/>
                </a:solidFill>
                <a:latin typeface="Segoe UI"/>
              </a:rPr>
              <a:t>Stok tidak bisa diubah lewat form produk. Satu-satunya pintu adalah tombol Sesuaikan Stok, dengan tiga mode: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6227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77240" y="4462272"/>
            <a:ext cx="54864" cy="9144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459943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Masuk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27889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barang datang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46227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389120" y="4462272"/>
            <a:ext cx="54864" cy="914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63440" y="459943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Keluar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92040"/>
            <a:ext cx="27889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rusak / terpakai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446227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001000" y="4462272"/>
            <a:ext cx="54864" cy="914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75320" y="459943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Opname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892040"/>
            <a:ext cx="27889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stok diset ke hasil hitung fisik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53212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F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77240" y="553212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69848" y="56784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Kenapa dibuat serumit itu?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595274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Supaya pertanyaan "kenapa stok berubah?" selalu bisa dijawab. Setiap perubahan menulis satu baris di buku besar stok, lengkap dengan sebabnya.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Persediaan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Barang yang Anda simpan tapi belum tentu dijual apa adanya.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21031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Bahan Baku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278892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Masih harus diolah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Tepung, gula, biji kopi, cairan pembersih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54864" cy="2103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344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0253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Setengah Jadi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68296"/>
            <a:ext cx="278892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Hasil olahan, dipakai lagi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Adonan, kaldu, cairan poles siap pakai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8308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54864" cy="21031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0253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Barang Jadi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368296"/>
            <a:ext cx="278892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Siap pakai / siap jual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Air mineral, kerupuk kemasan, anting steril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2452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178808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Harga bahan memakai rata-rata bergerak.</a:t>
            </a:r>
            <a:r>
              <a:rPr sz="1200" b="0">
                <a:solidFill>
                  <a:srgbClr val="8A90A6"/>
                </a:solidFill>
                <a:latin typeface="Segoe UI"/>
              </a:rPr>
              <a:t>  Sekali beli mahal tidak melonjakkan HPP semua produk.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4515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599432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Resep menyambungkan bahan ke produk.</a:t>
            </a:r>
            <a:r>
              <a:rPr sz="1200" b="0">
                <a:solidFill>
                  <a:srgbClr val="8A90A6"/>
                </a:solidFill>
                <a:latin typeface="Segoe UI"/>
              </a:rPr>
              <a:t>  Isi resep, ubah mode HPP ke "resep", dan HPP dihitung otomatis.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657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5020056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Setiap pembelian menyesuaikan HPP produk terkait.</a:t>
            </a:r>
            <a:r>
              <a:rPr sz="1200" b="0">
                <a:solidFill>
                  <a:srgbClr val="8A90A6"/>
                </a:solidFill>
                <a:latin typeface="Segoe UI"/>
              </a:rPr>
              <a:t>  Tidak perlu mengubah harga modal satu per satu.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Pembelian Stok — dan kenapa bukan Beban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Kesalahan pencatatan paling mahal yang bisa dihindari sejak awal.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2286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❌ Kalau dicatat sebagai Beban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68296"/>
            <a:ext cx="46177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Bulan Anda belanja besar, laba terlihat anjlok. Bulan berikutnya, saat barangnya laku, laba terlihat melonjak.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Padahal usahanya biasa saja — yang berubah cuma cara mencatat.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4864" cy="2286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7960" y="2002536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✓ Dicatat sebagai Pembelian Stok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68296"/>
            <a:ext cx="461772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Uangnya belum jadi biaya — ia berubah jadi persediaan.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Baru menjadi HPP saat barangnya benar-benar terjual. Laba tiap bulan jadi mencerminkan yang sungguh terjadi.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616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315968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Satu nota boleh campur.</a:t>
            </a:r>
            <a:r>
              <a:rPr sz="1200" b="0">
                <a:solidFill>
                  <a:srgbClr val="8A90A6"/>
                </a:solidFill>
                <a:latin typeface="Segoe UI"/>
              </a:rPr>
              <a:t>  Bahan baku dan produk siap jual bisa masuk di nota belanja yang sama.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823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736592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Belum lunas? Jadi hutang supplier.</a:t>
            </a:r>
            <a:r>
              <a:rPr sz="1200" b="0">
                <a:solidFill>
                  <a:srgbClr val="8A90A6"/>
                </a:solidFill>
                <a:latin typeface="Segoe UI"/>
              </a:rPr>
              <a:t>  Isi jatuh temponya, dan pelunasannya dicatat dari menu yang sama.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029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157216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Pilih uangnya diambil dari akun mana.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Kas laci, bank, atau QRIS — supaya saldo tiap akun tetap benar.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595360" y="-109728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66960" y="32918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3A7FB"/>
                </a:solidFill>
                <a:latin typeface="Segoe UI"/>
              </a:rPr>
              <a:t>BAGIAN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7680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🧰 Usaha Jasa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6E2FF"/>
                </a:solidFill>
                <a:latin typeface="Segoe UI"/>
              </a:rPr>
              <a:t>Jual pekerjaan, bukan barang. Yang dititipkan pelanggan harus bisa dilacak sampai diserahkan kembali.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Alur pesanan jasa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Empat tahap, dari barang masuk sampai diserahkan.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2048256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Masuk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404872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Diterima, belum digarap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5828" y="223113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B3A7FB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6724" y="1828800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506724" y="1828800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3028" y="2048256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Dikerjakan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3028" y="2404872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Sedang dikerjakan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3113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B3A7FB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828800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36208" y="1828800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2512" y="2048256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Selesai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04872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Siap diambil pelanggan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4796" y="223113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B3A7FB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5692" y="1828800"/>
            <a:ext cx="241858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965692" y="1828800"/>
            <a:ext cx="2418588" cy="64008"/>
          </a:xfrm>
          <a:prstGeom prst="roundRect">
            <a:avLst>
              <a:gd name="adj" fmla="val 30000"/>
            </a:avLst>
          </a:prstGeom>
          <a:solidFill>
            <a:srgbClr val="8A9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11996" y="2048256"/>
            <a:ext cx="2125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Diambil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1996" y="2404872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Sudah diserahkan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472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401568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Nilai pesanan tercatat sejak DITERIMA.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Di titik itu harga sudah disepakati dan barangnya sudah di tangan Anda.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679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822192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Uang muka boleh, boleh juga lunas di depan.</a:t>
            </a:r>
            <a:r>
              <a:rPr sz="1200" b="0">
                <a:solidFill>
                  <a:srgbClr val="8A90A6"/>
                </a:solidFill>
                <a:latin typeface="Segoe UI"/>
              </a:rPr>
              <a:t>  Sisanya otomatis masuk menu Kasbon lengkap dengan jatuh temponya.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2885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242816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Barang tidak bisa diserahkan kalau masih ada sisa bayar.</a:t>
            </a:r>
            <a:r>
              <a:rPr sz="1200" b="0">
                <a:solidFill>
                  <a:srgbClr val="8A90A6"/>
                </a:solidFill>
                <a:latin typeface="Segoe UI"/>
              </a:rPr>
              <a:t>  Aplikasi menahannya — melepas barang yang belum lunas harus disengaja.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091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4663440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Batal? Pesanan di-void, bukan dihapus.</a:t>
            </a:r>
            <a:r>
              <a:rPr sz="1200" b="0">
                <a:solidFill>
                  <a:srgbClr val="8A90A6"/>
                </a:solidFill>
                <a:latin typeface="Segoe UI"/>
              </a:rPr>
              <a:t>  Nilainya keluar dari omzet dan sisa tagihannya ditutup, tapi jejaknya tetap ada.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Layanan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Katalog pekerjaan yang Anda jual. Tidak punya stok.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Satuan penagihan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461772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Pilih yang sesuai cara Anda menagih: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per item · per kg · per jam · per hari · per meter · per m²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Laundry kiloan tinggal isi 3,5 kg — pecahan tidak dibulatkan, jadi laba tetap tepat.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Harga bisa diubah saat menerima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68296"/>
            <a:ext cx="461772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Nyalakan untuk pekerjaan yang harganya baru ketahuan setelah dilihat — servis, perbaikan, jahit model bebas.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Kalau tidak dinyalakan, harga katalog dipakai apa adanya dan tidak bisa diubah dari layar penerimaan.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51206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45628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6285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Biaya bahan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28616"/>
            <a:ext cx="4617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Isi perkiraan bahan pakai per satuan (lem, cairan, anting steril) supaya margin jasanya jujur, bukan seolah untung 100%.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43400"/>
            <a:ext cx="51206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263640" y="434340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37960" y="45628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56285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Perkiraan lama kerja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28616"/>
            <a:ext cx="4617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Dipakai sebagai ancar-ancar saat menentukan janji selesai ke pelanggan.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Menerima pesanan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Yang diisi saat pelanggan datang menitipkan pekerjaan.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801368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Pilih pelanggan.</a:t>
            </a:r>
            <a:r>
              <a:rPr sz="1200" b="0">
                <a:solidFill>
                  <a:srgbClr val="8A90A6"/>
                </a:solidFill>
                <a:latin typeface="Segoe UI"/>
              </a:rPr>
              <a:t>  Wajib kalau belum lunas — kalau tidak, nanti tidak ada yang bisa ditagih.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140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68296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Pilih layanan &amp; jumlahnya.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Boleh beberapa baris dalam satu pesanan.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809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935224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Tandai petugasnya.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Per baris, bukan per pesanan — satu pelanggan bisa dikerjakan dua orang.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502152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Isi ciri barang.</a:t>
            </a:r>
            <a:r>
              <a:rPr sz="1200" b="0">
                <a:solidFill>
                  <a:srgbClr val="8A90A6"/>
                </a:solidFill>
                <a:latin typeface="Segoe UI"/>
              </a:rPr>
              <a:t>  "2 kantong putih", "Beat merah B 1234 XY" — supaya tidak tertukar.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06908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Tentukan janji selesai.</a:t>
            </a:r>
            <a:r>
              <a:rPr sz="1200" b="0">
                <a:solidFill>
                  <a:srgbClr val="8A90A6"/>
                </a:solidFill>
                <a:latin typeface="Segoe UI"/>
              </a:rPr>
              <a:t>  Jadi dasar kartu "Lewat Janji" di papan antrean.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8172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636008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Terima uang muka (opsional).</a:t>
            </a:r>
            <a:r>
              <a:rPr sz="1200" b="0">
                <a:solidFill>
                  <a:srgbClr val="8A90A6"/>
                </a:solidFill>
                <a:latin typeface="Segoe UI"/>
              </a:rPr>
              <a:t>  Pilih akun kasnya; sisanya jadi kasbon.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828800"/>
            <a:ext cx="39319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452360" y="1828800"/>
            <a:ext cx="54864" cy="17373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26680" y="20482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482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Tanda terima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2414016"/>
            <a:ext cx="34290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Setelah tersimpan, aplikasi menawarkan mengirim tanda terima ke pelanggan.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Nota kertas paling sering hilang duluan; pesan WhatsApp tidak.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749039"/>
            <a:ext cx="3931920" cy="1234440"/>
          </a:xfrm>
          <a:prstGeom prst="roundRect">
            <a:avLst>
              <a:gd name="adj" fmla="val 10000"/>
            </a:avLst>
          </a:prstGeom>
          <a:solidFill>
            <a:srgbClr val="F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452360" y="3749039"/>
            <a:ext cx="64008" cy="123444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4968" y="3895343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Kenapa omzet dihitung sejak awal?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4169663"/>
            <a:ext cx="338328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Kalau ditunda sampai barang diambil, pekerjaan yang menyeberang bulan akan hilang dari laporan bulan berjalan.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Papan antrean &amp; serah terima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Semua pekerjaan yang belum selesai ada di satu layar.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Antre Dikerjakan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Masuk + sedang digarap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4904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0253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Siap Diambil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36829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Selesai, menunggu pelanggan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00253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Lewat Janji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6829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Sudah lewat tanggal — kabari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86968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00253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Belum Dilunasi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368296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Total sisa yang masih ditahan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4472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3401568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Ketuk kartu pesanan untuk membukanya.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Rincian pekerjaan, petugas, sisa bayar, dan tombol tahap berikutnya.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8679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3822192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Tombolnya menyesuaikan tahap.</a:t>
            </a:r>
            <a:r>
              <a:rPr sz="1200" b="0">
                <a:solidFill>
                  <a:srgbClr val="8A90A6"/>
                </a:solidFill>
                <a:latin typeface="Segoe UI"/>
              </a:rPr>
              <a:t>  Mulai Kerjakan → Tandai Selesai → Serahkan.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2885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4242816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Kabari lewat WhatsApp saat selesai.</a:t>
            </a:r>
            <a:r>
              <a:rPr sz="1200" b="0">
                <a:solidFill>
                  <a:srgbClr val="8A90A6"/>
                </a:solidFill>
                <a:latin typeface="Segoe UI"/>
              </a:rPr>
              <a:t>  Tombolnya muncul sendiri begitu status jadi Selesai.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7091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663440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Terima pelunasan di layar yang sama.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Pilih akun kasnya; setelah lunas, tombol Serahkan terbuka.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53212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777240" y="553212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69848" y="56784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Laporan Pendapatan per Petugas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595274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Karena petugas ditandai per baris pekerjaan, Laporan bisa menampilkan omzet dan margin tiap orang — dasar yang jelas untuk pembagian komisi.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595360" y="-109728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66960" y="32918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3A7FB"/>
                </a:solidFill>
                <a:latin typeface="Segoe UI"/>
              </a:rPr>
              <a:t>BAGIAN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7680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🧩 Usaha Campuran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6E2FF"/>
                </a:solidFill>
                <a:latin typeface="Segoe UI"/>
              </a:rPr>
              <a:t>Jual barang sekaligus melayani jasa. Semua menu tampil, dan keduanya masuk ke laporan yang sama.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Kapan POS, kapan Pesanan Jasa?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Satu aturan sederhana: apakah pelanggan menunggu, atau meninggalkan barangnya?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22402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Pakai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461772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Pelanggan bayar dan langsung pergi membawa barangnya.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beli tempered glass, beli charger, beli gelang.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Stok berkurang saat itu juga.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" cy="224028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Pakai Pesanan Jasa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68296"/>
            <a:ext cx="461772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Ada pekerjaan yang harus digarap dulu, atau barangnya ditinggal.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Contoh: servis ganti LCD, pasang skin, ukir nama.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Masuk papan antrean sampai diserahkan.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Pekerjaan cepat yang ditunggu di tempat?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67258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Pasang anti gores selesai dalam lima menit. Catat lewat Pesanan Jasa, isi lunas di depan, lalu langsung tandai sampai Diambil. Tercatat rapi tanpa menahan antrean.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5069"/>
                </a:solidFill>
                <a:latin typeface="Segoe UI"/>
              </a:rPr>
              <a:t>Keduanya masuk ke omzet, laba, arus kas, dan Laporan yang sama — jadi Anda tidak perlu menjumlahkan dua pembukuan.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595360" y="-109728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66960" y="32918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3A7FB"/>
                </a:solidFill>
                <a:latin typeface="Segoe UI"/>
              </a:rPr>
              <a:t>BAGIAN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7680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📊 Dipakai Semua Usaha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6E2FF"/>
                </a:solidFill>
                <a:latin typeface="Segoe UI"/>
              </a:rPr>
              <a:t>Kas &amp; Bank, Kasbon, Beban, Laporan, dan Rekonsiliasi bekerja sama untuk dagang, jasa, maupun campuran.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Kas &amp;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Menjawab pertanyaan yang paling sering ditanya: uangnya sekarang ada di mana?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Pisahkan tiap dompet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27889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Kas laci, rekening BCA, rekening BRI, saldo QRIS — masing-masing satu akun, masing-masing punya saldo sendiri.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344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0253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Setoran &amp; tarik tunai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68296"/>
            <a:ext cx="27889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Pindah uang antar akun sendiri dicatat lewat tombol Pindah Uang. Bukan pemasukan, bukan beban — hanya berpindah tempat.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8308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0253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Mutasi keluar masuk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368296"/>
            <a:ext cx="28803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Tiap baris berasal dari catatan aslinya: penjualan, belanja, beban, cicilan. Bisa disaring per akun dan per periode.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95927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950207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Isi saldo awal tiap akun.</a:t>
            </a:r>
            <a:r>
              <a:rPr sz="1200" b="0">
                <a:solidFill>
                  <a:srgbClr val="8A90A6"/>
                </a:solidFill>
                <a:latin typeface="Segoe UI"/>
              </a:rPr>
              <a:t>  Uang yang sudah ada sebelum memakai Synona. Tanpa ini saldo akhirnya meleset.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16551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370831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Tandai akun default tiap cara bayar.</a:t>
            </a:r>
            <a:r>
              <a:rPr sz="1200" b="0">
                <a:solidFill>
                  <a:srgbClr val="8A90A6"/>
                </a:solidFill>
                <a:latin typeface="Segoe UI"/>
              </a:rPr>
              <a:t>  Kasir yang buru-buru tidak perlu memilih akun; uang QRIS langsung masuk ke akun QRIS.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3717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791455"/>
            <a:ext cx="100401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E2235"/>
                </a:solidFill>
                <a:latin typeface="Segoe UI"/>
              </a:rPr>
              <a:t>Saldo minus itu tanda.</a:t>
            </a:r>
            <a:r>
              <a:rPr sz="1200" b="0">
                <a:solidFill>
                  <a:srgbClr val="8A90A6"/>
                </a:solidFill>
                <a:latin typeface="Segoe UI"/>
              </a:rPr>
              <a:t>  Biasanya ada pengeluaran yang salah akun, atau saldo awal belum diisi.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Kasbon &amp; Beban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Dua catatan yang paling sering dilupakan, dan paling mahal akibatnya.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2468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Kasbon (piutang pelanggan)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4617720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Semua utang pelanggan berkumpul di sini, termasuk sisa bayar pesanan jasa.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Isi jatuh temponya — yang lewat tempo muncul di Pengingat dan Radar.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Tombol WhatsApp menyiapkan pesan penagihan yang sopan, tinggal kirim.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" cy="2468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Beban &amp; Tagihan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68296"/>
            <a:ext cx="4617720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Listrik, gaji, sewa, internet, transport. Tanpa ini kata "untung" bohong.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Tandai "berulang" untuk beban bulanan — dipakai menghitung titik impas (BEP).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Beban rutin disebar rata ke seluruh hari, jadi hari gajian tidak terlihat rugi besar.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2628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F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452628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69848" y="46725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Ingat bedanya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94690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Belanja stok BUKAN beban — itu masuk menu Pembelian Stok. Beban adalah uang yang habis dipakai dan tidak berubah jadi barang: listrik, sewa, gaji.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Laporan &amp; Kesehatan Usaha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Angka diterjemahkan jadi status, lengkap dengan alasannya.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SEHAT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68296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Laba bersih positif dan omzet di atas titik impas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3440" y="200253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WASPADA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68296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Margin tipis, atau omzet masih di bawah titik impas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20" y="200253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BAHAYA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68296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Beban lebih besar daripada laba kotor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235"/>
                </a:solidFill>
                <a:latin typeface="Segoe UI"/>
              </a:rPr>
              <a:t>Yang bisa Anda baca di satu halaman: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67328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77240" y="3767328"/>
            <a:ext cx="54864" cy="694944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904488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Margin kotor &amp; bersih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97096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Berapa persen dari tiap rupiah penjualan yang benar-benar tinggal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67328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172200" y="3767328"/>
            <a:ext cx="54864" cy="694944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3904488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Titik impas (BEP) harian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197096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Omzet minimal per hari supaya tidak rugi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53712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77240" y="4553712"/>
            <a:ext cx="54864" cy="694944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51560" y="469087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Arus kas per akun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983480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Saldo awal, masuk, keluar, saldo akhir tiap kas dan bank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553712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172200" y="4553712"/>
            <a:ext cx="54864" cy="694944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46520" y="4690872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Profitabilitas per produk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983480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Mana yang laris tapi tipis, mana yang jarang tapi gemuk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340096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77240" y="5340096"/>
            <a:ext cx="54864" cy="694944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51560" y="5477256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Pendapatan per petugas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769864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Untuk usaha jasa — dasar pembagian komisi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340096"/>
            <a:ext cx="502920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172200" y="5340096"/>
            <a:ext cx="54864" cy="694944"/>
          </a:xfrm>
          <a:prstGeom prst="roundRect">
            <a:avLst>
              <a:gd name="adj" fmla="val 50000"/>
            </a:avLst>
          </a:prstGeom>
          <a:solidFill>
            <a:srgbClr val="8B7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46520" y="5477256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Perputaran &amp; stok mati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769864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Barang yang tidak bergerak lebih dari 30 hari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Rekonsiliasi harian &amp;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Menutup hari, lalu membuka hari berikutnya dengan daftar kerja.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206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4864" cy="2514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Rekonsiliasi Harian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461772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Hitung uang fisik di laci, masukkan angkanya, dan aplikasi menunjukkan selisihnya dengan catatan sistem.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Selisih kecil itu wajar. Yang berbahaya adalah selisih yang tidak pernah diperiksa — semakin lama semakin sulit dicari sebabnya.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QRIS dipisah dengan perkiraan potongan 0,3% sebagai batas selisih wajar.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206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" cy="251460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20025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235"/>
                </a:solidFill>
                <a:latin typeface="Segoe UI"/>
              </a:rPr>
              <a:t>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02536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235"/>
                </a:solidFill>
                <a:latin typeface="Segoe UI"/>
              </a:rPr>
              <a:t>Radar 6 Pertanyaan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68296"/>
            <a:ext cx="4617720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4A5069"/>
                </a:solidFill>
                <a:latin typeface="Segoe UI"/>
              </a:rPr>
              <a:t>Enam pertanyaan yang dijawab satu angka di dashboard, masing-masing dengan status dan satu tombol aksi: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150" b="0">
                <a:solidFill>
                  <a:srgbClr val="4A5069"/>
                </a:solidFill>
                <a:latin typeface="Segoe UI"/>
              </a:rPr>
              <a:t>Omzet · Untung · Kas · Stok (atau Antrean untuk jasa) · Tagihan · Agenda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69848" y="471830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Kebiasaan yang membuat semuanya bekerja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99262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Catat saat kejadian, bukan saat ingat. Lima menit menutup buku tiap malam jauh lebih murah daripada satu hari penuh mencari selisih di akhir bulan.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Data contoh untuk latihan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Outlet "Aksesoris Kita" — toko aksesoris HP yang juga melayani jasa.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069"/>
                </a:solidFill>
                <a:latin typeface="Segoe UI"/>
              </a:rPr>
              <a:t>Dipasang lewat terminal: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29968"/>
            <a:ext cx="10607040" cy="475488"/>
          </a:xfrm>
          <a:prstGeom prst="roundRect">
            <a:avLst>
              <a:gd name="adj" fmla="val 10000"/>
            </a:avLst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3272" y="2139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3A7FB"/>
                </a:solidFill>
                <a:latin typeface="Segoe UI"/>
              </a:rPr>
              <a:t>npm run contoh:aksesoris -- --ya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916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2735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Produk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788920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5760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916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32735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Layanan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2916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32735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Persediaan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788920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916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2735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Pelanggan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13048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0120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39410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0472" y="429768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Transaksi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813048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57600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39410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7952" y="429768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Pesanan jasa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813048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55080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39410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429768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Nota belanja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813048"/>
            <a:ext cx="246888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0" y="39684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E2235"/>
                </a:solidFill>
                <a:latin typeface="Segoe UI"/>
              </a:rPr>
              <a:t>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39410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2235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429768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0A6"/>
                </a:solidFill>
                <a:latin typeface="Segoe UI"/>
              </a:rPr>
              <a:t>Akun kas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10000"/>
            </a:avLst>
          </a:prstGeom>
          <a:solidFill>
            <a:srgbClr val="F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777240" y="489204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69848" y="503834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E2235"/>
                </a:solidFill>
                <a:latin typeface="Segoe UI"/>
              </a:rPr>
              <a:t>Omzet 30 hari terakhir: Rp 54.497.000 · jenis usaha: campuran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5312664"/>
            <a:ext cx="100584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5069"/>
                </a:solidFill>
                <a:latin typeface="Segoe UI"/>
              </a:rPr>
              <a:t>Karena bertipe campuran, ketiga mode bisa dicoba dari satu data ini: ganti Jenis Usaha di Pengaturan → Outlet &amp; Staf ke Dagang (menu jasa hilang), Jasa (menu barang hilang), atau kembali ke Campuran.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90A6"/>
                </a:solidFill>
                <a:latin typeface="Segoe UI"/>
              </a:rPr>
              <a:t>Perintahnya membuat backup otomatis dulu, dan tanpa --ya hanya menampilkan pratinjau tanpa mengubah apa pun. Akun login tidak ikut terhapus.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82296" cy="566928"/>
          </a:xfrm>
          <a:prstGeom prst="rect">
            <a:avLst/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33272" y="60350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235"/>
                </a:solidFill>
                <a:latin typeface="Segoe UI"/>
              </a:rPr>
              <a:t>Kesalahan umum — dan cara menghindarinya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7043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0A6"/>
                </a:solidFill>
                <a:latin typeface="Segoe UI"/>
              </a:rPr>
              <a:t>Lima hal yang paling sering membuat angka jadi tidak masuk akal.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1874520"/>
            <a:ext cx="10104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235"/>
                </a:solidFill>
                <a:latin typeface="Segoe UI"/>
              </a:rPr>
              <a:t>Modal produk dikosongkan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10104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Semua penjualan terlihat untung penuh. Isi HPP-nya, walau baru perkiraan.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70048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77240" y="267004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807208"/>
            <a:ext cx="10104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235"/>
                </a:solidFill>
                <a:latin typeface="Segoe UI"/>
              </a:rPr>
              <a:t>Belanja stok dicatat sebagai Beban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9816"/>
            <a:ext cx="10104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Laba bulan belanja anjlok, bulan berikutnya melonjak. Pakai menu Pembelian Stok.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02736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77240" y="3602736"/>
            <a:ext cx="54864" cy="8412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3739896"/>
            <a:ext cx="10104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235"/>
                </a:solidFill>
                <a:latin typeface="Segoe UI"/>
              </a:rPr>
              <a:t>Beban rutin tidak pernah dicatat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32504"/>
            <a:ext cx="10104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Titik impas tidak bisa dihitung, dan laba bersih terlihat lebih besar dari kenyataan.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35424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77240" y="4535424"/>
            <a:ext cx="54864" cy="8412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1560" y="4672584"/>
            <a:ext cx="10104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235"/>
                </a:solidFill>
                <a:latin typeface="Segoe UI"/>
              </a:rPr>
              <a:t>Setoran ke bank tidak dicatat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65192"/>
            <a:ext cx="10104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Saldo laci dan saldo bank sama-sama salah walau total uangnya benar. Pakai Pindah Uang.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68112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77240" y="5468112"/>
            <a:ext cx="54864" cy="8412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51560" y="5605272"/>
            <a:ext cx="10104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E2235"/>
                </a:solidFill>
                <a:latin typeface="Segoe UI"/>
              </a:rPr>
              <a:t>Pesanan jasa diserahkan tanpa dilunasi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897880"/>
            <a:ext cx="10104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A5069"/>
                </a:solidFill>
                <a:latin typeface="Segoe UI"/>
              </a:rPr>
              <a:t>Aplikasi menahannya. Kalau memang mau dilepas, terima pelunasannya dulu atau catat sisanya sebagai kasbon.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Panduan Pengguna Synona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A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-2011680" y="3108960"/>
            <a:ext cx="6035040" cy="6035040"/>
          </a:xfrm>
          <a:prstGeom prst="roundRect">
            <a:avLst>
              <a:gd name="adj" fmla="val 50000"/>
            </a:avLst>
          </a:prstGeom>
          <a:solidFill>
            <a:srgbClr val="5B4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778240" y="-1645920"/>
            <a:ext cx="5669280" cy="5669280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108960" y="2286000"/>
            <a:ext cx="5943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Selamat mencoba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42900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E6E2FF"/>
                </a:solidFill>
                <a:latin typeface="Segoe UI"/>
              </a:rPr>
              <a:t>Mulai dari satu kebiasaan: catat saat kejadian, bukan saat ingat. Sisanya dikerjakan Synona.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7091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3A7FB"/>
                </a:solidFill>
                <a:latin typeface="Segoe UI"/>
              </a:rPr>
              <a:t>Kelola usaha, makin untung.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